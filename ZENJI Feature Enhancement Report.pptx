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Inter"/>
      <ns0:bold ns1:id="rIdFont17"/>
      <ns0:regular ns1:id="rIdFont18"/>
    </ns0:embeddedFont>
    <ns0:embeddedFont>
      <ns0:font typeface="Plus Jakarta Sans"/>
      <ns0:bold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45215c81-7960-40e6-a478-33bc3e215eb0.fntdata" /><ns0:Relationship Id="rIdFont18" Type="http://schemas.openxmlformats.org/officeDocument/2006/relationships/font" Target="fonts/ab49cbb1-fd5c-476e-ba04-ffae2a937d2e.fntdata" /><ns0:Relationship Id="rIdFont19" Type="http://schemas.openxmlformats.org/officeDocument/2006/relationships/font" Target="fonts/9bd81fd1-4c51-4ea2-be0e-53fbb4a83751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Relationship Id="rId12" Type="http://schemas.openxmlformats.org/officeDocument/2006/relationships/image" Target="../media/image33.png"/><Relationship Id="rId13" Type="http://schemas.openxmlformats.org/officeDocument/2006/relationships/image" Target="../media/image3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Relationship Id="rId12" Type="http://schemas.openxmlformats.org/officeDocument/2006/relationships/image" Target="../media/image44.png"/><Relationship Id="rId13" Type="http://schemas.openxmlformats.org/officeDocument/2006/relationships/image" Target="../media/image4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62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62000" y="4299049"/>
            <a:ext cx="3505200" cy="390525"/>
          </a:xfrm>
          <a:prstGeom prst="roundRect">
            <a:avLst>
              <a:gd name="adj" fmla="val 50000"/>
            </a:avLst>
          </a:prstGeom>
          <a:solidFill>
            <a:srgbClr val="232656"/>
          </a:solidFill>
          <a:ln w="9525">
            <a:solidFill>
              <a:srgbClr val="3F45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168425"/>
            <a:ext cx="419100" cy="419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012" y="2282725"/>
            <a:ext cx="219075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4422874"/>
            <a:ext cx="142875" cy="142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2816125"/>
            <a:ext cx="11251406" cy="6351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002"/>
              </a:lnSpc>
            </a:pPr>
            <a:r>
              <a:rPr b="1" sz="4350" i="0" u="none">
                <a:solidFill>
                  <a:srgbClr val="FFFFFF"/>
                </a:solidFill>
                <a:latin typeface="Plus Jakarta Sans"/>
              </a:rPr>
              <a:t>Feature Enhancement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641824"/>
            <a:ext cx="8572500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GitHub Repository &amp; Deployed Application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400" y="2277963"/>
            <a:ext cx="1690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ZENJI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4403824"/>
            <a:ext cx="3881437" cy="18097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A5B4FC"/>
                </a:solidFill>
                <a:latin typeface="Inter"/>
              </a:rPr>
              <a:t>System Analysis &amp; Architecture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36244" y="2686050"/>
            <a:ext cx="6146155" cy="2419350"/>
          </a:xfrm>
          <a:prstGeom prst="roundRect">
            <a:avLst>
              <a:gd name="adj" fmla="val 78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37532"/>
            <a:ext cx="4598044" cy="1085850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875782"/>
            <a:ext cx="4598044" cy="1278135"/>
          </a:xfrm>
          <a:prstGeom prst="roundRect">
            <a:avLst>
              <a:gd name="adj" fmla="val 119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637532"/>
            <a:ext cx="47625" cy="10858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875782"/>
            <a:ext cx="47625" cy="127813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569" y="3000375"/>
            <a:ext cx="342900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6294" y="3086100"/>
            <a:ext cx="1714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0569" y="3533775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0569" y="3886200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0569" y="4238625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0569" y="4591050"/>
            <a:ext cx="190500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F46E5"/>
                </a:solidFill>
                <a:latin typeface="Plus Jakarta Sans"/>
              </a:rPr>
              <a:t>FOUNDATIONS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953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Project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2904232"/>
            <a:ext cx="5021274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366F1"/>
                </a:solidFill>
                <a:latin typeface="Inter"/>
              </a:rPr>
              <a:t>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3142357"/>
            <a:ext cx="5272338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lus Jakarta Sans"/>
              </a:rPr>
              <a:t>ZENJI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4142482"/>
            <a:ext cx="5021274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891B2"/>
                </a:solidFill>
                <a:latin typeface="Inter"/>
              </a:rPr>
              <a:t>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4380607"/>
            <a:ext cx="4112269" cy="506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b="1" sz="1425" i="0" u="none">
                <a:solidFill>
                  <a:srgbClr val="1E293B"/>
                </a:solidFill>
                <a:latin typeface="Inter"/>
              </a:rPr>
              <a:t>GitHub repository and deployed web application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8719" y="3038475"/>
            <a:ext cx="136017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Objective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5369" y="3533775"/>
            <a:ext cx="6136630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Analyze existing capabilities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5369" y="3886200"/>
            <a:ext cx="6136630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Identify missing product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55369" y="4238625"/>
            <a:ext cx="6136630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Suggest scalable improvements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5369" y="4591050"/>
            <a:ext cx="6136630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Prepare future development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09850"/>
            <a:ext cx="5334000" cy="2533650"/>
          </a:xfrm>
          <a:prstGeom prst="roundRect">
            <a:avLst>
              <a:gd name="adj" fmla="val 7518"/>
            </a:avLst>
          </a:prstGeom>
          <a:solidFill>
            <a:srgbClr val="F4FCF8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609850"/>
            <a:ext cx="5334000" cy="2533650"/>
          </a:xfrm>
          <a:prstGeom prst="roundRect">
            <a:avLst>
              <a:gd name="adj" fmla="val 7518"/>
            </a:avLst>
          </a:prstGeom>
          <a:solidFill>
            <a:srgbClr val="F4F8FE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924175"/>
            <a:ext cx="419100" cy="419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2924175"/>
            <a:ext cx="41910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225" y="3038475"/>
            <a:ext cx="19050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0837" y="3038475"/>
            <a:ext cx="142875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" y="3567112"/>
            <a:ext cx="16192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" y="3919537"/>
            <a:ext cx="16192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" y="4271962"/>
            <a:ext cx="16192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" y="4624387"/>
            <a:ext cx="16192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2725" y="3567112"/>
            <a:ext cx="20002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2725" y="3919537"/>
            <a:ext cx="200025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2725" y="4271962"/>
            <a:ext cx="200025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2725" y="4624387"/>
            <a:ext cx="200025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284C7"/>
                </a:solidFill>
                <a:latin typeface="Plus Jakarta Sans"/>
              </a:rPr>
              <a:t>ASSESSMENT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953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Current Feature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57325" y="2990850"/>
            <a:ext cx="3575446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65F46"/>
                </a:solidFill>
                <a:latin typeface="Plus Jakarta Sans"/>
              </a:rPr>
              <a:t>Observed product areas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0150" y="3552825"/>
            <a:ext cx="5605462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425" i="0" u="none">
                <a:solidFill>
                  <a:srgbClr val="1E293B"/>
                </a:solidFill>
                <a:latin typeface="Inter"/>
              </a:rPr>
              <a:t>Core application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0150" y="3905250"/>
            <a:ext cx="5605462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425" i="0" u="none">
                <a:solidFill>
                  <a:srgbClr val="1E293B"/>
                </a:solidFill>
                <a:latin typeface="Inter"/>
              </a:rPr>
              <a:t>User interface experience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0150" y="4257675"/>
            <a:ext cx="5605462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425" i="0" u="none">
                <a:solidFill>
                  <a:srgbClr val="1E293B"/>
                </a:solidFill>
                <a:latin typeface="Inter"/>
              </a:rPr>
              <a:t>Data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610100"/>
            <a:ext cx="5605462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425" i="0" u="none">
                <a:solidFill>
                  <a:srgbClr val="1E293B"/>
                </a:solidFill>
                <a:latin typeface="Inter"/>
              </a:rPr>
              <a:t>System usability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6125" y="2990850"/>
            <a:ext cx="4050506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40AF"/>
                </a:solidFill>
                <a:latin typeface="Plus Jakarta Sans"/>
              </a:rPr>
              <a:t>Improvement opportunities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7050" y="3552825"/>
            <a:ext cx="5314950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425" i="0" u="none">
                <a:solidFill>
                  <a:srgbClr val="1E293B"/>
                </a:solidFill>
                <a:latin typeface="Inter"/>
              </a:rPr>
              <a:t>Better personalization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7050" y="3905250"/>
            <a:ext cx="5314950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425" i="0" u="none">
                <a:solidFill>
                  <a:srgbClr val="1E293B"/>
                </a:solidFill>
                <a:latin typeface="Inter"/>
              </a:rPr>
              <a:t>Advanced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7050" y="4257675"/>
            <a:ext cx="5314950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425" i="0" u="none">
                <a:solidFill>
                  <a:srgbClr val="1E293B"/>
                </a:solidFill>
                <a:latin typeface="Inter"/>
              </a:rPr>
              <a:t>Stronger security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7050" y="4610100"/>
            <a:ext cx="5314950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425" i="0" u="none">
                <a:solidFill>
                  <a:srgbClr val="1E293B"/>
                </a:solidFill>
                <a:latin typeface="Inter"/>
              </a:rPr>
              <a:t>More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90800"/>
            <a:ext cx="3505200" cy="257175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733675"/>
            <a:ext cx="3505200" cy="2286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733675"/>
            <a:ext cx="3505200" cy="2286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590800"/>
            <a:ext cx="3505200" cy="476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43400" y="2733675"/>
            <a:ext cx="3505200" cy="47625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77200" y="2733675"/>
            <a:ext cx="3505200" cy="476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05125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048000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3048000"/>
            <a:ext cx="3810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975" y="3009900"/>
            <a:ext cx="1714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6775" y="3152775"/>
            <a:ext cx="1714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6762" y="3152775"/>
            <a:ext cx="219075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3862387"/>
            <a:ext cx="104775" cy="1619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4148137"/>
            <a:ext cx="104775" cy="1619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4433887"/>
            <a:ext cx="104775" cy="1619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4719637"/>
            <a:ext cx="104775" cy="1619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0" y="4005262"/>
            <a:ext cx="104775" cy="1619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0" y="4291012"/>
            <a:ext cx="104775" cy="1619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0" y="4576762"/>
            <a:ext cx="104775" cy="1619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5800" y="4005262"/>
            <a:ext cx="104775" cy="1619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5800" y="4291012"/>
            <a:ext cx="104775" cy="1619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5800" y="4576762"/>
            <a:ext cx="104775" cy="16192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7C3AED"/>
                </a:solidFill>
                <a:latin typeface="Plus Jakarta Sans"/>
              </a:rPr>
              <a:t>CORE UPGRADES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6953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Recommended New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438525"/>
            <a:ext cx="40005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F172A"/>
                </a:solidFill>
                <a:latin typeface="Plus Jakarta Sans"/>
              </a:rPr>
              <a:t>1. User Experience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581400"/>
            <a:ext cx="40005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F172A"/>
                </a:solidFill>
                <a:latin typeface="Plus Jakarta Sans"/>
              </a:rPr>
              <a:t>2. Smart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5800" y="3581400"/>
            <a:ext cx="38862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F172A"/>
                </a:solidFill>
                <a:latin typeface="Plus Jakarta Sans"/>
              </a:rPr>
              <a:t>3. Management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175" y="3848100"/>
            <a:ext cx="3629025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Inter"/>
              </a:rPr>
              <a:t>Dark mode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175" y="4133850"/>
            <a:ext cx="3629025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Inter"/>
              </a:rPr>
              <a:t>Custom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175" y="4419600"/>
            <a:ext cx="3629025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Inter"/>
              </a:rPr>
              <a:t>Responsive mobile interface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175" y="4705350"/>
            <a:ext cx="3629025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Inter"/>
              </a:rPr>
              <a:t>Better onboarding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2975" y="3990975"/>
            <a:ext cx="3629025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Inter"/>
              </a:rPr>
              <a:t>AI assistant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2975" y="4276725"/>
            <a:ext cx="3629025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Inter"/>
              </a:rPr>
              <a:t>Smart search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2975" y="4562475"/>
            <a:ext cx="3629025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Inter"/>
              </a:rPr>
              <a:t>Automated recommendations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86775" y="3990975"/>
            <a:ext cx="3629025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Inter"/>
              </a:rPr>
              <a:t>User roles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86775" y="4276725"/>
            <a:ext cx="3629025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Inter"/>
              </a:rPr>
              <a:t>Activity history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86775" y="4562475"/>
            <a:ext cx="3629025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Inter"/>
              </a:rPr>
              <a:t>Notification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19400"/>
            <a:ext cx="3505200" cy="211455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19400"/>
            <a:ext cx="3505200" cy="211455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19400"/>
            <a:ext cx="3505200" cy="211455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9125" y="2828925"/>
            <a:ext cx="3486150" cy="771525"/>
          </a:xfrm>
          <a:prstGeom prst="rect">
            <a:avLst/>
          </a:prstGeom>
          <a:solidFill>
            <a:srgbClr val="2C68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52925" y="2828925"/>
            <a:ext cx="3486150" cy="771525"/>
          </a:xfrm>
          <a:prstGeom prst="rect">
            <a:avLst/>
          </a:prstGeom>
          <a:solidFill>
            <a:srgbClr val="7C4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86725" y="2828925"/>
            <a:ext cx="3486150" cy="771525"/>
          </a:xfrm>
          <a:prstGeom prst="rect">
            <a:avLst/>
          </a:prstGeom>
          <a:solidFill>
            <a:srgbClr val="089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2563EB"/>
                </a:solidFill>
                <a:latin typeface="Plus Jakarta San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Feature Roadmap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000375"/>
            <a:ext cx="3786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BEAFE"/>
                </a:solidFill>
                <a:latin typeface="Inter"/>
              </a:rPr>
              <a:t>STEP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162300"/>
            <a:ext cx="397549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Plus Jakarta Sans"/>
              </a:rPr>
              <a:t>Phase 1 - 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3000375"/>
            <a:ext cx="3786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DE9FE"/>
                </a:solidFill>
                <a:latin typeface="Inter"/>
              </a:rPr>
              <a:t>STEP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525" y="3162300"/>
            <a:ext cx="397549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Plus Jakarta Sans"/>
              </a:rPr>
              <a:t>Phase 2 -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5325" y="3000375"/>
            <a:ext cx="3786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Inter"/>
              </a:rPr>
              <a:t>STEP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5325" y="3162300"/>
            <a:ext cx="38766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Plus Jakarta Sans"/>
              </a:rPr>
              <a:t>Phase 3 - Expansion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829050"/>
            <a:ext cx="3786187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1E293B"/>
                </a:solidFill>
                <a:latin typeface="Inter"/>
              </a:rPr>
              <a:t> UI improvement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4162425"/>
            <a:ext cx="3786187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1E293B"/>
                </a:solidFill>
                <a:latin typeface="Inter"/>
              </a:rPr>
              <a:t> Authentication improvements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4495800"/>
            <a:ext cx="3786187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1E293B"/>
                </a:solidFill>
                <a:latin typeface="Inter"/>
              </a:rPr>
              <a:t> Performance optimization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525" y="3829050"/>
            <a:ext cx="3786187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1E293B"/>
                </a:solidFill>
                <a:latin typeface="Inter"/>
              </a:rPr>
              <a:t> AI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525" y="4162425"/>
            <a:ext cx="3786187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1E293B"/>
                </a:solidFill>
                <a:latin typeface="Inter"/>
              </a:rPr>
              <a:t> Analytics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525" y="4495800"/>
            <a:ext cx="3786187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1E293B"/>
                </a:solidFill>
                <a:latin typeface="Inter"/>
              </a:rPr>
              <a:t> 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5325" y="3829050"/>
            <a:ext cx="3786187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1E293B"/>
                </a:solidFill>
                <a:latin typeface="Inter"/>
              </a:rPr>
              <a:t> API ecosystem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5325" y="4162425"/>
            <a:ext cx="3786187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1E293B"/>
                </a:solidFill>
                <a:latin typeface="Inter"/>
              </a:rPr>
              <a:t> Premium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5325" y="4495800"/>
            <a:ext cx="3786187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1E293B"/>
                </a:solidFill>
                <a:latin typeface="Inter"/>
              </a:rPr>
              <a:t> Enterprise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14450"/>
            <a:ext cx="10972800" cy="5086350"/>
          </a:xfrm>
          <a:prstGeom prst="roundRect">
            <a:avLst>
              <a:gd name="adj" fmla="val 37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95500" y="2862262"/>
            <a:ext cx="1714500" cy="2190750"/>
          </a:xfrm>
          <a:prstGeom prst="roundRect">
            <a:avLst>
              <a:gd name="adj" fmla="val 6666"/>
            </a:avLst>
          </a:prstGeom>
          <a:solidFill>
            <a:srgbClr val="534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38750" y="3338512"/>
            <a:ext cx="1714500" cy="1714500"/>
          </a:xfrm>
          <a:prstGeom prst="roundRect">
            <a:avLst>
              <a:gd name="adj" fmla="val 6666"/>
            </a:avLst>
          </a:prstGeom>
          <a:solidFill>
            <a:srgbClr val="1DA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82000" y="4052887"/>
            <a:ext cx="1714500" cy="1000125"/>
          </a:xfrm>
          <a:prstGeom prst="roundRect">
            <a:avLst>
              <a:gd name="adj" fmla="val 11428"/>
            </a:avLst>
          </a:prstGeom>
          <a:solidFill>
            <a:srgbClr val="1DB5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6366F1"/>
                </a:solidFill>
                <a:latin typeface="Plus Jakarta Sans"/>
              </a:rPr>
              <a:t>ANALYTICS &amp; RESOURCE ALLOCATION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Feature Priority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136921" y="1628775"/>
            <a:ext cx="1246584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1E293B"/>
                </a:solidFill>
                <a:latin typeface="Plus Jakarta Sans"/>
              </a:rPr>
              <a:t>Recommended Feature Priority Distribution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2912" y="5905500"/>
            <a:ext cx="460771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Percentage share of recommended feature initiatives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8425" y="2452687"/>
            <a:ext cx="9144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4F46E5"/>
                </a:solidFill>
                <a:latin typeface="Plus Jakarta Sans"/>
              </a:rPr>
              <a:t>45%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186362"/>
            <a:ext cx="1333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High Priority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91200" y="2928937"/>
            <a:ext cx="89535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284C7"/>
                </a:solidFill>
                <a:latin typeface="Plus Jakarta Sans"/>
              </a:rPr>
              <a:t>35%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6609" y="5186362"/>
            <a:ext cx="16787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Medium Priority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20162" y="3643312"/>
            <a:ext cx="92392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86787" y="5186362"/>
            <a:ext cx="13049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Low Priority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14450"/>
            <a:ext cx="10972800" cy="5086350"/>
          </a:xfrm>
          <a:prstGeom prst="roundRect">
            <a:avLst>
              <a:gd name="adj" fmla="val 37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552575" y="3157537"/>
            <a:ext cx="1238250" cy="1828800"/>
          </a:xfrm>
          <a:prstGeom prst="roundRect">
            <a:avLst>
              <a:gd name="adj" fmla="val 7692"/>
            </a:avLst>
          </a:prstGeom>
          <a:solidFill>
            <a:srgbClr val="438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514725" y="3614737"/>
            <a:ext cx="1238250" cy="1371600"/>
          </a:xfrm>
          <a:prstGeom prst="roundRect">
            <a:avLst>
              <a:gd name="adj" fmla="val 7692"/>
            </a:avLst>
          </a:prstGeom>
          <a:solidFill>
            <a:srgbClr val="686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76875" y="3386137"/>
            <a:ext cx="1238250" cy="1600200"/>
          </a:xfrm>
          <a:prstGeom prst="roundRect">
            <a:avLst>
              <a:gd name="adj" fmla="val 7692"/>
            </a:avLst>
          </a:prstGeom>
          <a:solidFill>
            <a:srgbClr val="15B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39025" y="2928937"/>
            <a:ext cx="1238250" cy="2057400"/>
          </a:xfrm>
          <a:prstGeom prst="roundRect">
            <a:avLst>
              <a:gd name="adj" fmla="val 7692"/>
            </a:avLst>
          </a:prstGeom>
          <a:solidFill>
            <a:srgbClr val="EA9B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401175" y="2700337"/>
            <a:ext cx="1238250" cy="2286000"/>
          </a:xfrm>
          <a:prstGeom prst="roundRect">
            <a:avLst>
              <a:gd name="adj" fmla="val 7692"/>
            </a:avLst>
          </a:prstGeom>
          <a:solidFill>
            <a:srgbClr val="1DB5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QUANTITATIVE PROJECTIONS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Expected Impact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36921" y="1628775"/>
            <a:ext cx="1246584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1E293B"/>
                </a:solidFill>
                <a:latin typeface="Plus Jakarta Sans"/>
              </a:rPr>
              <a:t>Expected Improvement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1562" y="5905500"/>
            <a:ext cx="303609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64748B"/>
                </a:solidFill>
                <a:latin typeface="Inter"/>
              </a:rPr>
              <a:t>Improvement Score (Scale: 0 – 50)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4537" y="2814637"/>
            <a:ext cx="6000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B82F6"/>
                </a:solidFill>
                <a:latin typeface="Plus Jakarta Sans"/>
              </a:rPr>
              <a:t>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2162" y="5100637"/>
            <a:ext cx="50482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81450" y="3271837"/>
            <a:ext cx="59055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6366F1"/>
                </a:solidFill>
                <a:latin typeface="Plus Jakarta Sans"/>
              </a:rPr>
              <a:t>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0" y="5100637"/>
            <a:ext cx="93345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53125" y="3043237"/>
            <a:ext cx="571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891B2"/>
                </a:solidFill>
                <a:latin typeface="Plus Jakarta Sans"/>
              </a:rPr>
              <a:t>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6412" y="5100637"/>
            <a:ext cx="130492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10512" y="2586037"/>
            <a:ext cx="5810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97706"/>
                </a:solidFill>
                <a:latin typeface="Plus Jakarta Sans"/>
              </a:rPr>
              <a:t>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337" y="5100637"/>
            <a:ext cx="109537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Scalability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67900" y="2357437"/>
            <a:ext cx="59055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59669"/>
                </a:solidFill>
                <a:latin typeface="Plus Jakarta Sans"/>
              </a:rPr>
              <a:t>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4037" y="5100637"/>
            <a:ext cx="1440656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Business Value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76587"/>
            <a:ext cx="3555950" cy="819150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17950" y="3176587"/>
            <a:ext cx="3555950" cy="819150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176587"/>
            <a:ext cx="3555950" cy="819150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148137"/>
            <a:ext cx="3555950" cy="819150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17950" y="4148137"/>
            <a:ext cx="3555950" cy="819150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26300" y="4148137"/>
            <a:ext cx="3555950" cy="819150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395662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075" y="3395662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425" y="3395662"/>
            <a:ext cx="3810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4367212"/>
            <a:ext cx="381000" cy="381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6075" y="4367212"/>
            <a:ext cx="381000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4425" y="4367212"/>
            <a:ext cx="381000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3500437"/>
            <a:ext cx="171450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0850" y="3500437"/>
            <a:ext cx="171450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78725" y="3500437"/>
            <a:ext cx="152400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2025" y="4471987"/>
            <a:ext cx="152400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70375" y="4471987"/>
            <a:ext cx="152400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88250" y="4471987"/>
            <a:ext cx="133350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E11D48"/>
                </a:solidFill>
                <a:latin typeface="Plus Jakarta Sans"/>
              </a:rPr>
              <a:t>INFRASTRUCTURE &amp; RESILIENCE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953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Security &amp; Technical Improvements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2786062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Recommended technical upgrades: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1125" y="3486150"/>
            <a:ext cx="26789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Inter"/>
              </a:rPr>
              <a:t>Two-factor authentication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9475" y="3486150"/>
            <a:ext cx="11239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Inter"/>
              </a:rPr>
              <a:t>Audit logs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97825" y="3486150"/>
            <a:ext cx="1643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Inter"/>
              </a:rPr>
              <a:t>Data encryption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1125" y="4457700"/>
            <a:ext cx="22979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Inter"/>
              </a:rPr>
              <a:t>Database optimization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89475" y="4457700"/>
            <a:ext cx="1762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Inter"/>
              </a:rPr>
              <a:t>Caching strategy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97825" y="4457700"/>
            <a:ext cx="23455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Inter"/>
              </a:rPr>
              <a:t>Offline/PWA capability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76587"/>
            <a:ext cx="3555950" cy="819150"/>
          </a:xfrm>
          <a:prstGeom prst="roundRect">
            <a:avLst>
              <a:gd name="adj" fmla="val 162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17950" y="3176587"/>
            <a:ext cx="3555950" cy="819150"/>
          </a:xfrm>
          <a:prstGeom prst="roundRect">
            <a:avLst>
              <a:gd name="adj" fmla="val 162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176587"/>
            <a:ext cx="3555950" cy="819150"/>
          </a:xfrm>
          <a:prstGeom prst="roundRect">
            <a:avLst>
              <a:gd name="adj" fmla="val 162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148137"/>
            <a:ext cx="3555950" cy="819150"/>
          </a:xfrm>
          <a:prstGeom prst="roundRect">
            <a:avLst>
              <a:gd name="adj" fmla="val 162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17950" y="4148137"/>
            <a:ext cx="3555950" cy="819150"/>
          </a:xfrm>
          <a:prstGeom prst="roundRect">
            <a:avLst>
              <a:gd name="adj" fmla="val 162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26300" y="4148137"/>
            <a:ext cx="3555950" cy="819150"/>
          </a:xfrm>
          <a:prstGeom prst="roundRect">
            <a:avLst>
              <a:gd name="adj" fmla="val 162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395662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075" y="3395662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425" y="3395662"/>
            <a:ext cx="3810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4367212"/>
            <a:ext cx="381000" cy="381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6075" y="4367212"/>
            <a:ext cx="381000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4425" y="4367212"/>
            <a:ext cx="381000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975" y="3500437"/>
            <a:ext cx="190500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1325" y="3500437"/>
            <a:ext cx="190500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45388" y="3500437"/>
            <a:ext cx="219075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2500" y="4471987"/>
            <a:ext cx="171450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60850" y="4471987"/>
            <a:ext cx="171450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69200" y="4471987"/>
            <a:ext cx="171450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59669"/>
                </a:solidFill>
                <a:latin typeface="Plus Jakarta Sans"/>
              </a:rPr>
              <a:t>COMMERCIAL EXPANSION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953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Business Growth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2786062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Potential product expansion: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1125" y="3486150"/>
            <a:ext cx="21312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Inter"/>
              </a:rPr>
              <a:t>Subscription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9475" y="3486150"/>
            <a:ext cx="1881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Inter"/>
              </a:rPr>
              <a:t>Premium modules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97825" y="3486150"/>
            <a:ext cx="2476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Inter"/>
              </a:rPr>
              <a:t>Third-party integrations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1125" y="4457700"/>
            <a:ext cx="19645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Inter"/>
              </a:rPr>
              <a:t>Plugin 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89475" y="4457700"/>
            <a:ext cx="2428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Inter"/>
              </a:rPr>
              <a:t>Multi-language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97825" y="4457700"/>
            <a:ext cx="20597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Inter"/>
              </a:rPr>
              <a:t>Advanced reporting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2000" y="4330154"/>
            <a:ext cx="8572500" cy="978991"/>
          </a:xfrm>
          <a:prstGeom prst="rect">
            <a:avLst/>
          </a:prstGeom>
          <a:solidFill>
            <a:srgbClr val="193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2977604"/>
            <a:ext cx="2400300" cy="438150"/>
          </a:xfrm>
          <a:prstGeom prst="roundRect">
            <a:avLst>
              <a:gd name="adj" fmla="val 26086"/>
            </a:avLst>
          </a:prstGeom>
          <a:solidFill>
            <a:srgbClr val="1E2136"/>
          </a:solidFill>
          <a:ln w="9525">
            <a:solidFill>
              <a:srgbClr val="2D2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95650" y="2977604"/>
            <a:ext cx="2295525" cy="438150"/>
          </a:xfrm>
          <a:prstGeom prst="roundRect">
            <a:avLst>
              <a:gd name="adj" fmla="val 26086"/>
            </a:avLst>
          </a:prstGeom>
          <a:solidFill>
            <a:srgbClr val="1E2136"/>
          </a:solidFill>
          <a:ln w="9525">
            <a:solidFill>
              <a:srgbClr val="2D2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24525" y="2977604"/>
            <a:ext cx="1981200" cy="438150"/>
          </a:xfrm>
          <a:prstGeom prst="roundRect">
            <a:avLst>
              <a:gd name="adj" fmla="val 26086"/>
            </a:avLst>
          </a:prstGeom>
          <a:solidFill>
            <a:srgbClr val="1E2136"/>
          </a:solidFill>
          <a:ln w="9525">
            <a:solidFill>
              <a:srgbClr val="2D2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3549104"/>
            <a:ext cx="2286000" cy="438150"/>
          </a:xfrm>
          <a:prstGeom prst="roundRect">
            <a:avLst>
              <a:gd name="adj" fmla="val 26086"/>
            </a:avLst>
          </a:prstGeom>
          <a:solidFill>
            <a:srgbClr val="1E2136"/>
          </a:solidFill>
          <a:ln w="9525">
            <a:solidFill>
              <a:srgbClr val="2D2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81350" y="3549104"/>
            <a:ext cx="2733675" cy="438150"/>
          </a:xfrm>
          <a:prstGeom prst="roundRect">
            <a:avLst>
              <a:gd name="adj" fmla="val 26086"/>
            </a:avLst>
          </a:prstGeom>
          <a:solidFill>
            <a:srgbClr val="1E2136"/>
          </a:solidFill>
          <a:ln w="9525">
            <a:solidFill>
              <a:srgbClr val="2D2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4330154"/>
            <a:ext cx="38100" cy="978991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" y="3120479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5675" y="3120479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550" y="3120479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" y="3691979"/>
            <a:ext cx="1333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75" y="3691979"/>
            <a:ext cx="133350" cy="152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2000" y="2520404"/>
            <a:ext cx="1143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94A3B8"/>
                </a:solidFill>
                <a:latin typeface="Inter"/>
              </a:rPr>
              <a:t>ZENJI has opportunities for growth through: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548854"/>
            <a:ext cx="11430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Plus Jakarta Sans"/>
              </a:rPr>
              <a:t>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1806029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FFFFFF"/>
                </a:solidFill>
                <a:latin typeface="Plus Jakarta Sans"/>
              </a:rPr>
              <a:t>Conclusion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6800" y="4539704"/>
            <a:ext cx="809625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b="1" sz="1575" i="0" u="none">
                <a:solidFill>
                  <a:srgbClr val="FFFFFF"/>
                </a:solidFill>
                <a:latin typeface="Plus Jakarta Sans"/>
              </a:rPr>
              <a:t>These improvements can transform the project into a more complete product platform.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90625" y="3101429"/>
            <a:ext cx="22145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1F5F9"/>
                </a:solidFill>
                <a:latin typeface="Inter"/>
              </a:rPr>
              <a:t>Better user experience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4275" y="3101429"/>
            <a:ext cx="20835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1F5F9"/>
                </a:solidFill>
                <a:latin typeface="Inter"/>
              </a:rPr>
              <a:t>Intelligent automation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150" y="3101429"/>
            <a:ext cx="1690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1F5F9"/>
                </a:solidFill>
                <a:latin typeface="Inter"/>
              </a:rPr>
              <a:t>Stronger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90625" y="3672929"/>
            <a:ext cx="2071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1F5F9"/>
                </a:solidFill>
                <a:latin typeface="Inter"/>
              </a:rPr>
              <a:t>Scalable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9975" y="3672929"/>
            <a:ext cx="26312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1F5F9"/>
                </a:solidFill>
                <a:latin typeface="Inter"/>
              </a:rPr>
              <a:t>Business-oriented features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